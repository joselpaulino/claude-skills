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confident-newton/mnt/outputs/boeing-advisory-deck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201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indent="0" marL="0">
              <a:buNone/>
            </a:pPr>
            <a:r>
              <a:rPr lang="en-US" sz="2000" b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83664" y="201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 Labs · Cloud Native  ·  Supercharging Progress™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107899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47472" y="170078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 Advisory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47472" y="2176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Engagement Proposal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7472" y="2578608"/>
            <a:ext cx="4754880" cy="50292"/>
          </a:xfrm>
          <a:prstGeom prst="rect">
            <a:avLst/>
          </a:prstGeom>
          <a:solidFill>
            <a:srgbClr val="8CC8FA"/>
          </a:solidFill>
          <a:ln w="12700">
            <a:solidFill>
              <a:srgbClr val="8CC8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" y="2724912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2761488"/>
            <a:ext cx="7443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investments in Claude, Gemini, Amazon Q, and Amazon Kero are the foundation.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 AI Labs provides the advisory layer, agentic orchestration, and governance to put them into production.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4462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 Paulino · Senior AI Solution Architect, AI Labs &amp; Cloud Native  ·  June 2026  ·  CONFIDENTIAL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969764"/>
            <a:ext cx="3017520" cy="10973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17520" y="4969764"/>
            <a:ext cx="3108960" cy="10973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4969764"/>
            <a:ext cx="3017520" cy="10973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HCLTech  |  Confidential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8092440" y="49743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algn="r" indent="0" marL="0">
              <a:buNone/>
            </a:pPr>
            <a:r>
              <a:rPr lang="en-US" sz="1100" b="1" dirty="0">
                <a:solidFill>
                  <a:srgbClr val="5F1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280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64208" y="1280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Supercharging Progress™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6032" y="512064"/>
            <a:ext cx="50292" cy="585216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37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 has the tools. The gap is adoption at scale — and a structured path to production.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9764"/>
            <a:ext cx="3017520" cy="10973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969764"/>
            <a:ext cx="3108960" cy="10973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4969764"/>
            <a:ext cx="3017520" cy="10973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49834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HCLTech  |  Confidential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92440" y="49743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algn="r" indent="0" marL="0">
              <a:buNone/>
            </a:pPr>
            <a:r>
              <a:rPr lang="en-US" sz="1100" b="1" dirty="0">
                <a:solidFill>
                  <a:srgbClr val="5F1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207008"/>
            <a:ext cx="8631936" cy="658368"/>
          </a:xfrm>
          <a:prstGeom prst="rect">
            <a:avLst/>
          </a:prstGeom>
          <a:solidFill>
            <a:srgbClr val="2D1870"/>
          </a:solidFill>
          <a:ln w="15240">
            <a:solidFill>
              <a:srgbClr val="5F1E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207008"/>
            <a:ext cx="64008" cy="658368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24358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"Begin creating SOPs and Agents leveraging current investments to drive AI adoption." — Boeing EAID Leadership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1938528"/>
            <a:ext cx="2944368" cy="25603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9385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Boeing Is Today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2311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231136"/>
            <a:ext cx="45720" cy="42976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2494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Active AI investments: Claude, Gemini, Amazon Q, Amazon Kero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2688336"/>
            <a:ext cx="2944368" cy="4297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688336"/>
            <a:ext cx="45720" cy="42976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7066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EAID team driving AI adoption across enterprise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31455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145536"/>
            <a:ext cx="45720" cy="42976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1638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Use cases identified but not yet in production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3602736"/>
            <a:ext cx="2944368" cy="4297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602736"/>
            <a:ext cx="45720" cy="42976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210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No unified agentic orchestration layer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40599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4059936"/>
            <a:ext cx="45720" cy="42976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0782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SOPs and agent workflows yet to be formalised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73552" y="1938528"/>
            <a:ext cx="2944368" cy="2560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19385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 Is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73552" y="22311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3552" y="2231136"/>
            <a:ext cx="45720" cy="4297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22494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AI tools operating in silos — no coordinated workflow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73552" y="2688336"/>
            <a:ext cx="2944368" cy="4297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73552" y="2688336"/>
            <a:ext cx="45720" cy="4297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27066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No structured AI adoption path or maturity baseline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73552" y="31455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3145536"/>
            <a:ext cx="45720" cy="4297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4992" y="31638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Governance and responsible AI controls not yet embedded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73552" y="3602736"/>
            <a:ext cx="2944368" cy="4297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73552" y="3602736"/>
            <a:ext cx="45720" cy="4297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992" y="36210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Use case prioritisation not formally scoped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73552" y="40599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73552" y="4059936"/>
            <a:ext cx="45720" cy="4297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64992" y="40782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No agentic pod delivering durable, production-ready code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91072" y="1938528"/>
            <a:ext cx="2944368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4224" y="19385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HCLTech Brings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91072" y="22311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91072" y="2231136"/>
            <a:ext cx="45720" cy="4297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22494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Advisory-led adoption path across four phases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91072" y="2688336"/>
            <a:ext cx="2944368" cy="4297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91072" y="2688336"/>
            <a:ext cx="45720" cy="4297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27066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Agentic orchestration over your existing AI tools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91072" y="31455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91072" y="3145536"/>
            <a:ext cx="45720" cy="4297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2512" y="31638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Responsible AI and governance from Day 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91072" y="3602736"/>
            <a:ext cx="2944368" cy="4297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1072" y="3602736"/>
            <a:ext cx="45720" cy="4297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82512" y="36210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Targeted first use case to prove value fast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91072" y="4059936"/>
            <a:ext cx="2944368" cy="4297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91072" y="4059936"/>
            <a:ext cx="45720" cy="4297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4078224"/>
            <a:ext cx="2788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Reusable patterns that compound with each cycle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280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64208" y="1280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Supercharging Progress™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6032" y="512064"/>
            <a:ext cx="50292" cy="585216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37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Lifecycle — Designed for Boeing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closes with something running in your environment, not just a deck describing it.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9764"/>
            <a:ext cx="3017520" cy="10973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969764"/>
            <a:ext cx="3108960" cy="10973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4969764"/>
            <a:ext cx="3017520" cy="10973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49834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HCLTech  |  Confidential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92440" y="49743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algn="r" indent="0" marL="0">
              <a:buNone/>
            </a:pPr>
            <a:r>
              <a:rPr lang="en-US" sz="1100" b="1" dirty="0">
                <a:solidFill>
                  <a:srgbClr val="5F1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1170432"/>
            <a:ext cx="2103120" cy="512064"/>
          </a:xfrm>
          <a:prstGeom prst="rect">
            <a:avLst/>
          </a:prstGeom>
          <a:solidFill>
            <a:srgbClr val="3C91FF"/>
          </a:solidFill>
          <a:ln w="12700">
            <a:solidFill>
              <a:srgbClr val="3C9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170432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" y="117043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&amp; Align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" y="14264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0–30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" y="1682496"/>
            <a:ext cx="2103120" cy="2450592"/>
          </a:xfrm>
          <a:prstGeom prst="rect">
            <a:avLst/>
          </a:prstGeom>
          <a:solidFill>
            <a:srgbClr val="1E0D4A"/>
          </a:solidFill>
          <a:ln w="10160">
            <a:solidFill>
              <a:srgbClr val="3C9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77393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AI maturity baseline across 6 dimensions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10896" y="228600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Use case prioritisation (value × feasibility)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10896" y="2798064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Existing tool inventory and gap analysis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0896" y="331012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Quick-wins lane + strategic bets roadmap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01168" y="4151376"/>
            <a:ext cx="2103120" cy="548640"/>
          </a:xfrm>
          <a:prstGeom prst="rect">
            <a:avLst/>
          </a:prstGeom>
          <a:solidFill>
            <a:srgbClr val="2D1870"/>
          </a:solidFill>
          <a:ln w="10160">
            <a:solidFill>
              <a:srgbClr val="3C9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513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3C9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74320" y="43159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scorecard · Use case backlog · Roadmap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22576" y="2286000"/>
            <a:ext cx="128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14016" y="1170432"/>
            <a:ext cx="2103120" cy="512064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14016" y="1170432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16352" y="117043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&amp; Architect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14016" y="14264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30–60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14016" y="1682496"/>
            <a:ext cx="2103120" cy="2450592"/>
          </a:xfrm>
          <a:prstGeom prst="rect">
            <a:avLst/>
          </a:prstGeom>
          <a:solidFill>
            <a:srgbClr val="1E0D4A"/>
          </a:solidFill>
          <a:ln w="10160">
            <a:solidFill>
              <a:srgbClr val="8C69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177393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Responsible AI framework and policy spine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23744" y="228600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Agentic orchestration architecture blueprint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23744" y="2798064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Office of AI operating model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23744" y="331012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Integration design with Claude, Gemini, Amazon Q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414016" y="4151376"/>
            <a:ext cx="2103120" cy="548640"/>
          </a:xfrm>
          <a:prstGeom prst="rect">
            <a:avLst/>
          </a:prstGeom>
          <a:solidFill>
            <a:srgbClr val="2D1870"/>
          </a:solidFill>
          <a:ln w="10160">
            <a:solidFill>
              <a:srgbClr val="8C69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41513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487168" y="43159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 policy · Architecture blueprint · Operating model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35424" y="2286000"/>
            <a:ext cx="128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26864" y="1170432"/>
            <a:ext cx="2103120" cy="5120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1170432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29200" y="117043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Accelerate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26864" y="14264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60–90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26864" y="1682496"/>
            <a:ext cx="2103120" cy="2450592"/>
          </a:xfrm>
          <a:prstGeom prst="rect">
            <a:avLst/>
          </a:prstGeom>
          <a:solidFill>
            <a:srgbClr val="1E0D4A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177393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Fixed-scope Gold PoC on targeted use case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36592" y="228600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Agentic Engineering Pod (3-role delivery)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36592" y="2798064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Governance controls embedded from Day 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36592" y="331012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ROI baseline and capability handover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26864" y="4151376"/>
            <a:ext cx="2103120" cy="548640"/>
          </a:xfrm>
          <a:prstGeom prst="rect">
            <a:avLst/>
          </a:prstGeom>
          <a:solidFill>
            <a:srgbClr val="2D1870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0016" y="41513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700016" y="43159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agentic system · ROI baseline · Handover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748272" y="2286000"/>
            <a:ext cx="128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39712" y="1170432"/>
            <a:ext cx="2103120" cy="51206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9712" y="1170432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42048" y="117043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Operate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39712" y="14264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90+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39712" y="1682496"/>
            <a:ext cx="2103120" cy="2450592"/>
          </a:xfrm>
          <a:prstGeom prst="rect">
            <a:avLst/>
          </a:prstGeom>
          <a:solidFill>
            <a:srgbClr val="1E0D4A"/>
          </a:solidFill>
          <a:ln w="10160">
            <a:solidFill>
              <a:srgbClr val="FFA7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177393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Enterprise agent rollout via additional pods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949440" y="228600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Continuous governance KPIs and model health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949440" y="2798064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IP reuse: patterns, agents, evals across LOBs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49440" y="331012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Platform economics fall with every cycle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839712" y="4151376"/>
            <a:ext cx="2103120" cy="548640"/>
          </a:xfrm>
          <a:prstGeom prst="rect">
            <a:avLst/>
          </a:prstGeom>
          <a:solidFill>
            <a:srgbClr val="2D1870"/>
          </a:solidFill>
          <a:ln w="10160">
            <a:solidFill>
              <a:srgbClr val="FFA7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12864" y="41513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912864" y="43159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workforce · KPI dashboard · Pattern library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01168" y="4718304"/>
            <a:ext cx="8741664" cy="182880"/>
          </a:xfrm>
          <a:prstGeom prst="rect">
            <a:avLst/>
          </a:prstGeom>
          <a:solidFill>
            <a:srgbClr val="2D187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7183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Journey:    1 · Experimenting (isolated pilots)   →   2 · Industrialising (shared platform, measurable ROI)   →   3 · AI-native (embedded in operating model)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280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64208" y="1280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Supercharging Progress™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6032" y="512064"/>
            <a:ext cx="50292" cy="585216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37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Stack — Our Agentic Advisory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 orchestrates your existing investments. We build the layer above, not on top of it.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9764"/>
            <a:ext cx="3017520" cy="10973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969764"/>
            <a:ext cx="3108960" cy="10973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4969764"/>
            <a:ext cx="3017520" cy="10973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49834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HCLTech  |  Confidential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92440" y="49743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algn="r" indent="0" marL="0">
              <a:buNone/>
            </a:pPr>
            <a:r>
              <a:rPr lang="en-US" sz="1100" b="1" dirty="0">
                <a:solidFill>
                  <a:srgbClr val="5F1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1115568"/>
            <a:ext cx="8887968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280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64208" y="1280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Supercharging Progress™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6032" y="512064"/>
            <a:ext cx="50292" cy="585216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37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Start — Targeted First Use Case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agentic workflow. Proven on real data. Foot in the door.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9764"/>
            <a:ext cx="3017520" cy="10973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969764"/>
            <a:ext cx="3108960" cy="10973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4969764"/>
            <a:ext cx="3017520" cy="10973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49834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HCLTech  |  Confidential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92440" y="49743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algn="r" indent="0" marL="0">
              <a:buNone/>
            </a:pPr>
            <a:r>
              <a:rPr lang="en-US" sz="1100" b="1" dirty="0">
                <a:solidFill>
                  <a:srgbClr val="5F1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170432"/>
            <a:ext cx="4206240" cy="274320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170432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Choose the Right Use Case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1508760"/>
            <a:ext cx="4206240" cy="6583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508760"/>
            <a:ext cx="45720" cy="658368"/>
          </a:xfrm>
          <a:prstGeom prst="rect">
            <a:avLst/>
          </a:prstGeom>
          <a:solidFill>
            <a:srgbClr val="3C91FF"/>
          </a:solidFill>
          <a:ln w="12700">
            <a:solidFill>
              <a:srgbClr val="3C9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5453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9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Attainable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17830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with your current AI tools — no new platform required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2203704"/>
            <a:ext cx="4206240" cy="6583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203704"/>
            <a:ext cx="457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402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Administratively Clear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4780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policies, security blockers, or compliance unknowns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2898648"/>
            <a:ext cx="4206240" cy="658368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898648"/>
            <a:ext cx="45720" cy="65836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93522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1729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before/after metric — time saved, errors reduced, throughput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3593592"/>
            <a:ext cx="4206240" cy="658368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593592"/>
            <a:ext cx="45720" cy="658368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630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Pattern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8679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use case produces a pattern we replicate across the estate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1170432"/>
            <a:ext cx="4133088" cy="274320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170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Model — Gold PoC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481328"/>
            <a:ext cx="4133088" cy="1408176"/>
          </a:xfrm>
          <a:prstGeom prst="rect">
            <a:avLst/>
          </a:prstGeom>
          <a:solidFill>
            <a:srgbClr val="1E0D4A"/>
          </a:solidFill>
          <a:ln w="10160">
            <a:solidFill>
              <a:srgbClr val="0F5F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1517904"/>
            <a:ext cx="3950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9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PoC — 5 Pod Days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82896" y="1773936"/>
            <a:ext cx="3950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5 days · timeboxed · secure sandbox environment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2896" y="2029968"/>
            <a:ext cx="3950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Representative synthetic or demo data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82896" y="2286000"/>
            <a:ext cx="3950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Executive-ready demo + recording at end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2542032"/>
            <a:ext cx="3950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MVP approval pack with build plan if success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2944368"/>
            <a:ext cx="4133088" cy="274320"/>
          </a:xfrm>
          <a:prstGeom prst="rect">
            <a:avLst/>
          </a:prstGeom>
          <a:solidFill>
            <a:srgbClr val="2D1870"/>
          </a:solidFill>
          <a:ln w="10160">
            <a:solidFill>
              <a:srgbClr val="8C6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944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3-Role Agentic Pod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255264"/>
            <a:ext cx="45720" cy="310896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273552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Architect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64608" y="3419856"/>
            <a:ext cx="39502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Outcome, constraints, solution shape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54880" y="3602736"/>
            <a:ext cx="45720" cy="310896"/>
          </a:xfrm>
          <a:prstGeom prst="rect">
            <a:avLst/>
          </a:prstGeom>
          <a:solidFill>
            <a:srgbClr val="3C91FF"/>
          </a:solidFill>
          <a:ln w="12700">
            <a:solidFill>
              <a:srgbClr val="3C91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62102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9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Engineer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64608" y="3767328"/>
            <a:ext cx="39502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Orchestration, agent direction, delivery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0" y="3950208"/>
            <a:ext cx="45720" cy="31089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968496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Engineer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64608" y="4114800"/>
            <a:ext cx="39502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safety, release confidence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54880" y="4334256"/>
            <a:ext cx="413308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FFA7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4334256"/>
            <a:ext cx="3968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ROM:  5 pod days (Gold PoC)  →  MVP Solution: 10–14 pod days over ~5–6 elapsed weeks if PoC succeeds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280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64208" y="1280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Supercharging Progress™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6032" y="512064"/>
            <a:ext cx="50292" cy="585216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37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Advisory Services Available to Boeing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at any phase. Each service compounds the one before it.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9764"/>
            <a:ext cx="3017520" cy="10973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969764"/>
            <a:ext cx="3108960" cy="10973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4969764"/>
            <a:ext cx="3017520" cy="10973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49834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HCLTech  |  Confidential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92440" y="49743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algn="r" indent="0" marL="0">
              <a:buNone/>
            </a:pPr>
            <a:r>
              <a:rPr lang="en-US" sz="1100" b="1" dirty="0">
                <a:solidFill>
                  <a:srgbClr val="5F1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1170432"/>
            <a:ext cx="2834640" cy="1645920"/>
          </a:xfrm>
          <a:prstGeom prst="rect">
            <a:avLst/>
          </a:prstGeom>
          <a:solidFill>
            <a:srgbClr val="1E0D4A"/>
          </a:solidFill>
          <a:ln w="15240">
            <a:solidFill>
              <a:srgbClr val="3C9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1170432"/>
            <a:ext cx="2834640" cy="292608"/>
          </a:xfrm>
          <a:prstGeom prst="rect">
            <a:avLst/>
          </a:prstGeom>
          <a:solidFill>
            <a:srgbClr val="3C91FF"/>
          </a:solidFill>
          <a:ln w="12700">
            <a:solidFill>
              <a:srgbClr val="3C9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1704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117043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to Production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1499616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to MVP to first production deployment. Working agentic system in Boeing's environment with ROI baseline and handover.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1168" y="2523744"/>
            <a:ext cx="2834640" cy="292608"/>
          </a:xfrm>
          <a:prstGeom prst="rect">
            <a:avLst/>
          </a:prstGeom>
          <a:solidFill>
            <a:srgbClr val="2D1870"/>
          </a:solidFill>
          <a:ln w="12700">
            <a:solidFill>
              <a:srgbClr val="3C9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23744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C9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Phase: All phases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145536" y="1170432"/>
            <a:ext cx="2834640" cy="1645920"/>
          </a:xfrm>
          <a:prstGeom prst="rect">
            <a:avLst/>
          </a:prstGeom>
          <a:solidFill>
            <a:srgbClr val="1E0D4A"/>
          </a:solidFill>
          <a:ln w="15240">
            <a:solidFill>
              <a:srgbClr val="8C6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45536" y="1170432"/>
            <a:ext cx="2834640" cy="292608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11704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84448" y="117043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36976" y="1499616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 design and implementation. 3-role agentic pod ships working code every two weeks on Boeing use cases.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45536" y="2523744"/>
            <a:ext cx="2834640" cy="292608"/>
          </a:xfrm>
          <a:prstGeom prst="rect">
            <a:avLst/>
          </a:prstGeom>
          <a:solidFill>
            <a:srgbClr val="2D187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2523744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Phase: Build &amp; Accelerate · Scale &amp; Operate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089904" y="1170432"/>
            <a:ext cx="2834640" cy="1645920"/>
          </a:xfrm>
          <a:prstGeom prst="rect">
            <a:avLst/>
          </a:prstGeom>
          <a:solidFill>
            <a:srgbClr val="1E0D4A"/>
          </a:solidFill>
          <a:ln w="15240">
            <a:solidFill>
              <a:srgbClr val="FFA7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9904" y="1170432"/>
            <a:ext cx="2834640" cy="2926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1704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8816" y="117043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 Advisory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81344" y="1499616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Operating-model strategy across the enterprise. Role redesign and change management blueprint for Boeing's digital workforce.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89904" y="2523744"/>
            <a:ext cx="2834640" cy="292608"/>
          </a:xfrm>
          <a:prstGeom prst="rect">
            <a:avLst/>
          </a:prstGeom>
          <a:solidFill>
            <a:srgbClr val="2D1870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2523744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Phase: Assess &amp; Align · Scale &amp; Operate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01168" y="2889504"/>
            <a:ext cx="2834640" cy="1645920"/>
          </a:xfrm>
          <a:prstGeom prst="rect">
            <a:avLst/>
          </a:prstGeom>
          <a:solidFill>
            <a:srgbClr val="1E0D4A"/>
          </a:solidFill>
          <a:ln w="15240">
            <a:solidFill>
              <a:srgbClr val="00C8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2889504"/>
            <a:ext cx="2834640" cy="2926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8895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288950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of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2608" y="3218688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central AI CoE, governance, and operating model. Portfolio governance, intake process, and decision rights framework.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" y="4242816"/>
            <a:ext cx="2834640" cy="292608"/>
          </a:xfrm>
          <a:prstGeom prst="rect">
            <a:avLst/>
          </a:prstGeom>
          <a:solidFill>
            <a:srgbClr val="2D187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242816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Phase: Govern &amp; Architect · Scale &amp; Operate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45536" y="2889504"/>
            <a:ext cx="2834640" cy="1645920"/>
          </a:xfrm>
          <a:prstGeom prst="rect">
            <a:avLst/>
          </a:prstGeom>
          <a:solidFill>
            <a:srgbClr val="1E0D4A"/>
          </a:solidFill>
          <a:ln w="15240">
            <a:solidFill>
              <a:srgbClr val="EF53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45536" y="2889504"/>
            <a:ext cx="2834640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18688" y="28895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84448" y="288950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36976" y="3218688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and adversarial testing. Vulnerability findings, severity classification, and remediation roadmap with go/no-go gates.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45536" y="4242816"/>
            <a:ext cx="2834640" cy="292608"/>
          </a:xfrm>
          <a:prstGeom prst="rect">
            <a:avLst/>
          </a:prstGeom>
          <a:solidFill>
            <a:srgbClr val="2D187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18688" y="4242816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Phase: Govern &amp; Architect · Scale &amp; Operate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89904" y="2889504"/>
            <a:ext cx="2834640" cy="1645920"/>
          </a:xfrm>
          <a:prstGeom prst="rect">
            <a:avLst/>
          </a:prstGeom>
          <a:solidFill>
            <a:srgbClr val="1E0D4A"/>
          </a:solidFill>
          <a:ln w="15240">
            <a:solidFill>
              <a:srgbClr val="B9C8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9904" y="2889504"/>
            <a:ext cx="2834640" cy="292608"/>
          </a:xfrm>
          <a:prstGeom prst="rect">
            <a:avLst/>
          </a:prstGeom>
          <a:solidFill>
            <a:srgbClr val="B9C8FF"/>
          </a:solidFill>
          <a:ln w="12700">
            <a:solidFill>
              <a:srgbClr val="B9C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3056" y="28895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28816" y="288950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 Advisory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81344" y="3218688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compliance, and guardrails. RAI policy, EU AI Act posture, audit framework embedded from Day 1 — not bolted on.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089904" y="4242816"/>
            <a:ext cx="2834640" cy="292608"/>
          </a:xfrm>
          <a:prstGeom prst="rect">
            <a:avLst/>
          </a:prstGeom>
          <a:solidFill>
            <a:srgbClr val="2D1870"/>
          </a:solidFill>
          <a:ln w="12700">
            <a:solidFill>
              <a:srgbClr val="B9C8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63056" y="4242816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Phase: All phases (standing capability)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280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indent="0" marL="0">
              <a:buNone/>
            </a:pPr>
            <a:r>
              <a:rPr lang="en-US" sz="16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64208" y="1280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Supercharging Progress™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6032" y="512064"/>
            <a:ext cx="50292" cy="585216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37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— Let's Help You Help Boeing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ready to move. Here is what we need to get started.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9764"/>
            <a:ext cx="3017520" cy="10973"/>
          </a:xfrm>
          <a:prstGeom prst="rect">
            <a:avLst/>
          </a:prstGeom>
          <a:solidFill>
            <a:srgbClr val="5F1EBE"/>
          </a:solidFill>
          <a:ln w="12700">
            <a:solidFill>
              <a:srgbClr val="5F1E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969764"/>
            <a:ext cx="3108960" cy="10973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4969764"/>
            <a:ext cx="3017520" cy="10973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49834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HCLTech  |  Confidential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092440" y="49743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</a:t>
            </a:r>
            <a:pPr algn="r" indent="0" marL="0">
              <a:buNone/>
            </a:pPr>
            <a:r>
              <a:rPr lang="en-US" sz="1100" b="1" dirty="0">
                <a:solidFill>
                  <a:srgbClr val="5F1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170432"/>
            <a:ext cx="4169664" cy="2743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170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Boeing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1499616"/>
            <a:ext cx="4169664" cy="420624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499616"/>
            <a:ext cx="45720" cy="42062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179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Identify 1–2 candidate use cases from the EAID team backlog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1956816"/>
            <a:ext cx="4169664" cy="420624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1956816"/>
            <a:ext cx="45720" cy="42062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9751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Confirm relevant Boeing AI tools per use case (Claude / Gemini / Amazon Q / Kero)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2414016"/>
            <a:ext cx="4169664" cy="420624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414016"/>
            <a:ext cx="45720" cy="42062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323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Name a Boeing product owner, technical owner, and business SME for the PoC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2871216"/>
            <a:ext cx="4169664" cy="420624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871216"/>
            <a:ext cx="45720" cy="42062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8895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Confirm any data governance, security, or clearance constraints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3328416"/>
            <a:ext cx="4169664" cy="420624"/>
          </a:xfrm>
          <a:prstGeom prst="rect">
            <a:avLst/>
          </a:prstGeom>
          <a:solidFill>
            <a:srgbClr val="1E0D4A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328416"/>
            <a:ext cx="45720" cy="42062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467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Provide representative sample data or synthetic equivalent for the PoC sandbox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3785616"/>
            <a:ext cx="4169664" cy="420624"/>
          </a:xfrm>
          <a:prstGeom prst="rect">
            <a:avLst/>
          </a:prstGeom>
          <a:solidFill>
            <a:srgbClr val="2D1870"/>
          </a:solidFill>
          <a:ln w="12700">
            <a:solidFill>
              <a:srgbClr val="1E0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785616"/>
            <a:ext cx="45720" cy="42062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039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Agree on success criteria and acceptance definition before Day 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81728" y="1170432"/>
            <a:ext cx="4206240" cy="274320"/>
          </a:xfrm>
          <a:prstGeom prst="rect">
            <a:avLst/>
          </a:prstGeom>
          <a:solidFill>
            <a:srgbClr val="0F5FDC"/>
          </a:solidFill>
          <a:ln w="12700">
            <a:solidFill>
              <a:srgbClr val="0F5F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17043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Timeline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81728" y="1499616"/>
            <a:ext cx="4206240" cy="621792"/>
          </a:xfrm>
          <a:prstGeom prst="rect">
            <a:avLst/>
          </a:prstGeom>
          <a:solidFill>
            <a:srgbClr val="1E0D4A"/>
          </a:solidFill>
          <a:ln w="10160">
            <a:solidFill>
              <a:srgbClr val="3C91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1499616"/>
            <a:ext cx="731520" cy="621792"/>
          </a:xfrm>
          <a:prstGeom prst="rect">
            <a:avLst/>
          </a:prstGeom>
          <a:solidFill>
            <a:srgbClr val="3C91FF"/>
          </a:solidFill>
          <a:ln w="12700">
            <a:solidFill>
              <a:srgbClr val="3C9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1499616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68112" y="1536192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9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Workshop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68112" y="1773936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 min: select one use case, confirm data, name the team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81728" y="2157984"/>
            <a:ext cx="4206240" cy="621792"/>
          </a:xfrm>
          <a:prstGeom prst="rect">
            <a:avLst/>
          </a:prstGeom>
          <a:solidFill>
            <a:srgbClr val="1E0D4A"/>
          </a:solidFill>
          <a:ln w="10160">
            <a:solidFill>
              <a:srgbClr val="8C69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2157984"/>
            <a:ext cx="731520" cy="621792"/>
          </a:xfrm>
          <a:prstGeom prst="rect">
            <a:avLst/>
          </a:prstGeom>
          <a:solidFill>
            <a:srgbClr val="8C69F0"/>
          </a:solidFill>
          <a:ln w="12700">
            <a:solidFill>
              <a:srgbClr val="8C69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157984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68112" y="2194560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Alignment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68112" y="2432304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draft orchestration architecture and get Boeing sign-off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81728" y="2816352"/>
            <a:ext cx="4206240" cy="621792"/>
          </a:xfrm>
          <a:prstGeom prst="rect">
            <a:avLst/>
          </a:prstGeom>
          <a:solidFill>
            <a:srgbClr val="1E0D4A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2816352"/>
            <a:ext cx="731520" cy="6217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281635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468112" y="2852928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PoC Sprint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68112" y="3090672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pod days in secure sandbox — build, demo, handover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81728" y="3474720"/>
            <a:ext cx="4206240" cy="621792"/>
          </a:xfrm>
          <a:prstGeom prst="rect">
            <a:avLst/>
          </a:prstGeom>
          <a:solidFill>
            <a:srgbClr val="1E0D4A"/>
          </a:solidFill>
          <a:ln w="10160">
            <a:solidFill>
              <a:srgbClr val="FFA7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81728" y="3474720"/>
            <a:ext cx="731520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81728" y="3474720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5–6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468112" y="3511296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Decision Gate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68112" y="3749040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debrief → go/no-go for MVP Solution (10–14 pod days)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81728" y="4169664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5F1EBE"/>
          </a:solidFill>
          <a:ln w="12700">
            <a:solidFill>
              <a:srgbClr val="B9C8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4206240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conversation: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Half-day Executive Briefing  ·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Maturity Assessment  ·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Use Case Discovery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HCLTech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Boeing AI Adoption Advisory Partnership</dc:title>
  <dc:subject>PptxGenJS Presentation</dc:subject>
  <dc:creator>HCLTech AI Labs</dc:creator>
  <cp:lastModifiedBy>HCLTech AI Labs</cp:lastModifiedBy>
  <cp:revision>1</cp:revision>
  <dcterms:created xsi:type="dcterms:W3CDTF">2026-06-25T20:42:11Z</dcterms:created>
  <dcterms:modified xsi:type="dcterms:W3CDTF">2026-06-25T20:42:11Z</dcterms:modified>
</cp:coreProperties>
</file>